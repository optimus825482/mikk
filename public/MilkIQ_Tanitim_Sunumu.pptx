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3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RASYON\public\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822960"/>
            <a:ext cx="1371600" cy="1371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0" y="2377440"/>
            <a:ext cx="5669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4D3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AKILLI SÜT SIĞIRCILIĞI TEKNOLOJİSİ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914400" y="2697480"/>
            <a:ext cx="56692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MilkIQ</a:t>
            </a:r>
            <a:endParaRPr lang="en-US" sz="5400" dirty="0"/>
          </a:p>
        </p:txBody>
      </p:sp>
      <p:sp>
        <p:nvSpPr>
          <p:cNvPr id="5" name="Text 2"/>
          <p:cNvSpPr/>
          <p:nvPr/>
        </p:nvSpPr>
        <p:spPr>
          <a:xfrm>
            <a:off x="914400" y="3794760"/>
            <a:ext cx="5669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Rasyon, Karlılık &amp; Sürü Yönetim Sistemi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914400" y="4343400"/>
            <a:ext cx="5669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8BD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NRC Standartlarında Bilimsel Besleme  •  Dinamik Süt/Yem Paritesi  •  Net Maliyet Analizi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914400" y="5166360"/>
            <a:ext cx="5486400" cy="868680"/>
          </a:xfrm>
          <a:prstGeom prst="roundRect">
            <a:avLst>
              <a:gd name="adj" fmla="val 15789"/>
            </a:avLst>
          </a:prstGeom>
          <a:solidFill>
            <a:srgbClr val="152238"/>
          </a:solidFill>
          <a:ln w="19050">
            <a:solidFill>
              <a:srgbClr val="283852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1097280" y="5257800"/>
            <a:ext cx="51206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Geliştirici: Erkan Erdem  |  erkanerdem.online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Sürüm: v1.0 Production Ready • PWA &amp; Mobil Uyumlu • 7/24 Kesintisiz Takip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949440" y="822960"/>
            <a:ext cx="4480560" cy="5212080"/>
          </a:xfrm>
          <a:prstGeom prst="roundRect">
            <a:avLst>
              <a:gd name="adj" fmla="val 5102"/>
            </a:avLst>
          </a:prstGeom>
          <a:solidFill>
            <a:srgbClr val="152238"/>
          </a:solidFill>
          <a:ln w="19050">
            <a:solidFill>
              <a:srgbClr val="283852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223760" y="1097280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34D3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ÖNE ÇIKAN YETENEKLER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7223760" y="137160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Yeni Nesil Karar Destek Platformu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7223760" y="1920240"/>
            <a:ext cx="3931920" cy="685800"/>
          </a:xfrm>
          <a:prstGeom prst="roundRect">
            <a:avLst>
              <a:gd name="adj" fmla="val 13333"/>
            </a:avLst>
          </a:prstGeom>
          <a:solidFill>
            <a:srgbClr val="0D1728"/>
          </a:solidFill>
          <a:ln w="12700">
            <a:solidFill>
              <a:srgbClr val="233348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7360920" y="2029968"/>
            <a:ext cx="411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🌿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7818120" y="2011680"/>
            <a:ext cx="3200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Hassas Rasyon Hesaplama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7818120" y="2267712"/>
            <a:ext cx="3200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KM, HP, Nişasta ve Kaba/Kesif dengesi canlı simülasyonu.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7223760" y="2706624"/>
            <a:ext cx="3931920" cy="685800"/>
          </a:xfrm>
          <a:prstGeom prst="roundRect">
            <a:avLst>
              <a:gd name="adj" fmla="val 13333"/>
            </a:avLst>
          </a:prstGeom>
          <a:solidFill>
            <a:srgbClr val="0D1728"/>
          </a:solidFill>
          <a:ln w="12700">
            <a:solidFill>
              <a:srgbClr val="233348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360920" y="2816352"/>
            <a:ext cx="411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📊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7818120" y="2798064"/>
            <a:ext cx="3200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Dinamik Süt / Yem Paritesi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7818120" y="3054096"/>
            <a:ext cx="3200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 Litre sütün yem maliyeti ve başa baş katsayı takibi.</a:t>
            </a:r>
            <a:endParaRPr lang="en-US" sz="900" dirty="0"/>
          </a:p>
        </p:txBody>
      </p:sp>
      <p:sp>
        <p:nvSpPr>
          <p:cNvPr id="20" name="Shape 17"/>
          <p:cNvSpPr/>
          <p:nvPr/>
        </p:nvSpPr>
        <p:spPr>
          <a:xfrm>
            <a:off x="7223760" y="3493008"/>
            <a:ext cx="3931920" cy="685800"/>
          </a:xfrm>
          <a:prstGeom prst="roundRect">
            <a:avLst>
              <a:gd name="adj" fmla="val 13333"/>
            </a:avLst>
          </a:prstGeom>
          <a:solidFill>
            <a:srgbClr val="0D1728"/>
          </a:solidFill>
          <a:ln w="12700">
            <a:solidFill>
              <a:srgbClr val="233348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7360920" y="3602736"/>
            <a:ext cx="411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🌾</a:t>
            </a:r>
            <a:endParaRPr lang="en-US" sz="1600" dirty="0"/>
          </a:p>
        </p:txBody>
      </p:sp>
      <p:sp>
        <p:nvSpPr>
          <p:cNvPr id="22" name="Text 19"/>
          <p:cNvSpPr/>
          <p:nvPr/>
        </p:nvSpPr>
        <p:spPr>
          <a:xfrm>
            <a:off x="7818120" y="3584448"/>
            <a:ext cx="3200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Geniş Yem &amp; Fabrika Kataloğu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7818120" y="3840480"/>
            <a:ext cx="3200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13+ standart hammadde ve Türkiye tescilli fabrika yemleri.</a:t>
            </a:r>
            <a:endParaRPr lang="en-US" sz="900" dirty="0"/>
          </a:p>
        </p:txBody>
      </p:sp>
      <p:sp>
        <p:nvSpPr>
          <p:cNvPr id="24" name="Shape 21"/>
          <p:cNvSpPr/>
          <p:nvPr/>
        </p:nvSpPr>
        <p:spPr>
          <a:xfrm>
            <a:off x="7223760" y="4279392"/>
            <a:ext cx="3931920" cy="685800"/>
          </a:xfrm>
          <a:prstGeom prst="roundRect">
            <a:avLst>
              <a:gd name="adj" fmla="val 13333"/>
            </a:avLst>
          </a:prstGeom>
          <a:solidFill>
            <a:srgbClr val="0D1728"/>
          </a:solidFill>
          <a:ln w="12700">
            <a:solidFill>
              <a:srgbClr val="233348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360920" y="4389120"/>
            <a:ext cx="411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💰</a:t>
            </a:r>
            <a:endParaRPr lang="en-US" sz="1600" dirty="0"/>
          </a:p>
        </p:txBody>
      </p:sp>
      <p:sp>
        <p:nvSpPr>
          <p:cNvPr id="26" name="Text 23"/>
          <p:cNvSpPr/>
          <p:nvPr/>
        </p:nvSpPr>
        <p:spPr>
          <a:xfrm>
            <a:off x="7818120" y="4370832"/>
            <a:ext cx="3200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Çiftlik Bütçe &amp; Net Karlılık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7818120" y="4626864"/>
            <a:ext cx="3200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Genel giderler ile harmanlanmış gerçek 1L süt maliyeti.</a:t>
            </a:r>
            <a:endParaRPr lang="en-US" sz="900" dirty="0"/>
          </a:p>
        </p:txBody>
      </p:sp>
      <p:sp>
        <p:nvSpPr>
          <p:cNvPr id="28" name="Shape 25"/>
          <p:cNvSpPr/>
          <p:nvPr/>
        </p:nvSpPr>
        <p:spPr>
          <a:xfrm>
            <a:off x="7223760" y="5065776"/>
            <a:ext cx="3931920" cy="685800"/>
          </a:xfrm>
          <a:prstGeom prst="roundRect">
            <a:avLst>
              <a:gd name="adj" fmla="val 13333"/>
            </a:avLst>
          </a:prstGeom>
          <a:solidFill>
            <a:srgbClr val="0D1728"/>
          </a:solidFill>
          <a:ln w="12700">
            <a:solidFill>
              <a:srgbClr val="233348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7360920" y="5175504"/>
            <a:ext cx="411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🛡️</a:t>
            </a:r>
            <a:endParaRPr lang="en-US" sz="1600" dirty="0"/>
          </a:p>
        </p:txBody>
      </p:sp>
      <p:sp>
        <p:nvSpPr>
          <p:cNvPr id="30" name="Text 27"/>
          <p:cNvSpPr/>
          <p:nvPr/>
        </p:nvSpPr>
        <p:spPr>
          <a:xfrm>
            <a:off x="7818120" y="5157216"/>
            <a:ext cx="3200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Audit Log &amp; 7/24 Takip</a:t>
            </a:r>
            <a:endParaRPr lang="en-US" sz="1100" dirty="0"/>
          </a:p>
        </p:txBody>
      </p:sp>
      <p:sp>
        <p:nvSpPr>
          <p:cNvPr id="31" name="Text 28"/>
          <p:cNvSpPr/>
          <p:nvPr/>
        </p:nvSpPr>
        <p:spPr>
          <a:xfrm>
            <a:off x="7818120" y="5413248"/>
            <a:ext cx="3200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Kullanıcı hareket denetimi ve otomatik Gmail hata bildirimi.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3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107286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34D3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SEKTÖREL GERÇEKLER &amp; STRATEJIK DEĞER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731520" y="685800"/>
            <a:ext cx="1072865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Geleneksel Çiftlik Yönetimi vs. MilkIQ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31520" y="1371600"/>
            <a:ext cx="5166360" cy="4663440"/>
          </a:xfrm>
          <a:prstGeom prst="roundRect">
            <a:avLst>
              <a:gd name="adj" fmla="val 3922"/>
            </a:avLst>
          </a:prstGeom>
          <a:solidFill>
            <a:srgbClr val="1E1B24"/>
          </a:solidFill>
          <a:ln w="19050">
            <a:solidFill>
              <a:srgbClr val="7F1D1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" y="1600200"/>
            <a:ext cx="4617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8717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Geleneksel Besleme Zorlukları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005840" y="2103120"/>
            <a:ext cx="4617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 Yem maliyeti çiftlik cirosunun %70'ini oluşturur; plansız alımlar doğrudan zarara yol açar.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1005840" y="2852928"/>
            <a:ext cx="4617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 Göz kararı veya sabit reçeteler nedeniyle gizli asidoz ve metabolik hastalıklar yaşanır.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1005840" y="3602736"/>
            <a:ext cx="4617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 1 litre sütün anlık yem maliyeti ve hayvan başı net karı net olarak hesaplanamaz.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1005840" y="4352544"/>
            <a:ext cx="4617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 Tahıl ve kaba yem piyasasındaki fiyat dalgalanmalarına karşı anlık rasyon revizyonu yapılamaz.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1005840" y="5102352"/>
            <a:ext cx="4617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 Veriler kağıt veya karışık tablolarda kaybolur; geriye dönük veri analizi yapılamaz.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293815" y="1371600"/>
            <a:ext cx="5166360" cy="4663440"/>
          </a:xfrm>
          <a:prstGeom prst="roundRect">
            <a:avLst>
              <a:gd name="adj" fmla="val 3922"/>
            </a:avLst>
          </a:prstGeom>
          <a:solidFill>
            <a:srgbClr val="152238"/>
          </a:solidFill>
          <a:ln w="25400">
            <a:solidFill>
              <a:srgbClr val="10B98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68135" y="1600200"/>
            <a:ext cx="4617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4D3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MilkIQ ile Akıllı Dönüşüm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568135" y="2103120"/>
            <a:ext cx="4617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✔  Bilimsel NRC standartlarında hassas Kuru Madde, Protein ve Enerji optimizasyonu sağlanır.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6568135" y="2852928"/>
            <a:ext cx="4617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✔  Dinamik Süt/Yem Paritesi takibiyle minimum maliyetle maksimum pik süt verimi elde edilir.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6568135" y="3602736"/>
            <a:ext cx="4617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✔  Fabrika yemleri ve yerel yemlerin güncel borsa ve piyasa fiyatlarıyla anlık kıyaslanması yapılır.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6568135" y="4352544"/>
            <a:ext cx="4617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✔  Laktasyon dönemi ve canlı ağırlığa göre otomatik besin ihtiyacı simülasyonu çalıştırılır.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6568135" y="5102352"/>
            <a:ext cx="4617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✔  Tüm cihazlardan (cep telefonu, tablet, PC) bulut senkronizasyonu ile 7/24 kesintisiz erişilir.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731520" y="6263640"/>
            <a:ext cx="10728655" cy="0"/>
          </a:xfrm>
          <a:prstGeom prst="line">
            <a:avLst/>
          </a:prstGeom>
          <a:noFill/>
          <a:ln w="12700">
            <a:solidFill>
              <a:srgbClr val="23334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31520" y="6327648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MilkIQ • Akıllı Süt Sığırcılığı Rasyon &amp; Karlılık Sistemi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6217920" y="6327648"/>
            <a:ext cx="524225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Developed by Erkan Erdem (erkanerdem.online)  |  2 / 10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3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107286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34D3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TEMEL MODÜL 1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731520" y="685800"/>
            <a:ext cx="1072865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Bilimsel Rasyon Hesaplama &amp; Optimizasyon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31520" y="1371600"/>
            <a:ext cx="2514600" cy="2103120"/>
          </a:xfrm>
          <a:prstGeom prst="roundRect">
            <a:avLst>
              <a:gd name="adj" fmla="val 6522"/>
            </a:avLst>
          </a:prstGeom>
          <a:solidFill>
            <a:srgbClr val="152238"/>
          </a:solidFill>
          <a:ln w="19050">
            <a:solidFill>
              <a:srgbClr val="10B98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554480"/>
            <a:ext cx="2148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Kuru Madde (KM)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14400" y="1965960"/>
            <a:ext cx="21488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İşkembe kapasitesine uygun optimum tokluk ve fizyolojik sindirim.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69234" y="1371600"/>
            <a:ext cx="2514600" cy="2103120"/>
          </a:xfrm>
          <a:prstGeom prst="roundRect">
            <a:avLst>
              <a:gd name="adj" fmla="val 6522"/>
            </a:avLst>
          </a:prstGeom>
          <a:solidFill>
            <a:srgbClr val="152238"/>
          </a:solidFill>
          <a:ln w="19050">
            <a:solidFill>
              <a:srgbClr val="38BDF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2114" y="1554480"/>
            <a:ext cx="2148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Ham Protein (HP)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652114" y="1965960"/>
            <a:ext cx="21488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Süt verimi ve kas dokusu için gerekli bypass &amp; ruminal protein.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06947" y="1371600"/>
            <a:ext cx="2514600" cy="2103120"/>
          </a:xfrm>
          <a:prstGeom prst="roundRect">
            <a:avLst>
              <a:gd name="adj" fmla="val 6522"/>
            </a:avLst>
          </a:prstGeom>
          <a:solidFill>
            <a:srgbClr val="152238"/>
          </a:solidFill>
          <a:ln w="19050">
            <a:solidFill>
              <a:srgbClr val="F59E0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389827" y="1554480"/>
            <a:ext cx="2148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Enerji (ME / NEL)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389827" y="1965960"/>
            <a:ext cx="21488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Pik süt verimi ve kondisyon kaybını önleyen kritik enerji dengesi.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44661" y="1371600"/>
            <a:ext cx="2514600" cy="2103120"/>
          </a:xfrm>
          <a:prstGeom prst="roundRect">
            <a:avLst>
              <a:gd name="adj" fmla="val 6522"/>
            </a:avLst>
          </a:prstGeom>
          <a:solidFill>
            <a:srgbClr val="152238"/>
          </a:solidFill>
          <a:ln w="19050">
            <a:solidFill>
              <a:srgbClr val="EC489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27541" y="1554480"/>
            <a:ext cx="2148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Lif Dengesi (NDF / ADF)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9127541" y="1965960"/>
            <a:ext cx="21488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Rumen sağlığı, geviş getirme ve asidoz önleyici yapısal lif.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731520" y="3657600"/>
            <a:ext cx="10728655" cy="2377440"/>
          </a:xfrm>
          <a:prstGeom prst="roundRect">
            <a:avLst>
              <a:gd name="adj" fmla="val 5769"/>
            </a:avLst>
          </a:prstGeom>
          <a:solidFill>
            <a:srgbClr val="152238"/>
          </a:solidFill>
          <a:ln w="19050">
            <a:solidFill>
              <a:srgbClr val="28385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05840" y="3840480"/>
            <a:ext cx="1018001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4D3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Hassas Hayvan &amp; Üretim Parametreleri Uyarlaması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005840" y="4251960"/>
            <a:ext cx="101800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Canlı Ağırlık (kg), Günlük Hedef Süt Verimi (L), Süt Yağ Oranı (%) ve Protein (%) parametreleri girilir.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005840" y="4654296"/>
            <a:ext cx="101800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Laktasyon Günü (DIM) ve Gebelik Ayına göre otomatik bilimsel besin gereksinim artışı hesaplanır.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005840" y="5056632"/>
            <a:ext cx="101800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Gerçek zamanlı Kalsiyum (Ca), Fosfor (P) ve Tuz mineral oranı güvenlik uyarı sistemi devrededir.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1005840" y="5458968"/>
            <a:ext cx="101800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"Rasyonu Kaydet", "Rasyonu Kopyala" ve tek tıkla A4 Mikser Reçetesi formatında çıktı imkânı sunar.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731520" y="6263640"/>
            <a:ext cx="10728655" cy="0"/>
          </a:xfrm>
          <a:prstGeom prst="line">
            <a:avLst/>
          </a:prstGeom>
          <a:noFill/>
          <a:ln w="12700">
            <a:solidFill>
              <a:srgbClr val="23334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31520" y="6327648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MilkIQ • Akıllı Süt Sığırcılığı Rasyon &amp; Karlılık Sistemi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6217920" y="6327648"/>
            <a:ext cx="524225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Developed by Erkan Erdem (erkanerdem.online)  |  3 / 10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3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107286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34D3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TEMEL MODÜL 2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731520" y="685800"/>
            <a:ext cx="1072865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Dinamik Yem &amp; Fabrika Yemleri Kataloğu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31520" y="1371600"/>
            <a:ext cx="3429000" cy="4663440"/>
          </a:xfrm>
          <a:prstGeom prst="roundRect">
            <a:avLst>
              <a:gd name="adj" fmla="val 5333"/>
            </a:avLst>
          </a:prstGeom>
          <a:solidFill>
            <a:srgbClr val="152238"/>
          </a:solidFill>
          <a:ln w="19050">
            <a:solidFill>
              <a:srgbClr val="28385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0120" y="1600200"/>
            <a:ext cx="2971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4D3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TEMEL RUMEN LIF KAYNAĞI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960120" y="1874520"/>
            <a:ext cx="2971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Kaba Yemler &amp; Silajlar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960120" y="2468880"/>
            <a:ext cx="2971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Mısır Silajı (KM: %32)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960120" y="3063240"/>
            <a:ext cx="2971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Yonca Kuru Otu (HP: %18)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960120" y="3657600"/>
            <a:ext cx="2971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Saman &amp; Çayır Otu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960120" y="4251960"/>
            <a:ext cx="2971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Fiğ &amp; Tritikale Silajı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960120" y="5120640"/>
            <a:ext cx="2971800" cy="640080"/>
          </a:xfrm>
          <a:prstGeom prst="roundRect">
            <a:avLst>
              <a:gd name="adj" fmla="val 17143"/>
            </a:avLst>
          </a:prstGeom>
          <a:solidFill>
            <a:srgbClr val="0D1728"/>
          </a:solidFill>
          <a:ln w="12700">
            <a:solidFill>
              <a:srgbClr val="23334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05840" y="5257800"/>
            <a:ext cx="2880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Fiyat &amp; Besin Değerleri Düzenlenebilir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4380890" y="1371600"/>
            <a:ext cx="3429000" cy="4663440"/>
          </a:xfrm>
          <a:prstGeom prst="roundRect">
            <a:avLst>
              <a:gd name="adj" fmla="val 5333"/>
            </a:avLst>
          </a:prstGeom>
          <a:solidFill>
            <a:srgbClr val="152238"/>
          </a:solidFill>
          <a:ln w="19050">
            <a:solidFill>
              <a:srgbClr val="28385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609490" y="1600200"/>
            <a:ext cx="2971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4D3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YÜKSEK ENERJI &amp; PROTEIN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4609490" y="1874520"/>
            <a:ext cx="2971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Tahıllar &amp; Küspeler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4609490" y="2468880"/>
            <a:ext cx="2971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Mısır Flake &amp; Arpa Kırması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609490" y="3063240"/>
            <a:ext cx="2971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Soya Küspesi (HP: %44-%48)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609490" y="3657600"/>
            <a:ext cx="2971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Ayçiçeği Küspesi (HP: %32)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609490" y="4251960"/>
            <a:ext cx="2971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Pancar Posası &amp; Melas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609490" y="5120640"/>
            <a:ext cx="2971800" cy="640080"/>
          </a:xfrm>
          <a:prstGeom prst="roundRect">
            <a:avLst>
              <a:gd name="adj" fmla="val 17143"/>
            </a:avLst>
          </a:prstGeom>
          <a:solidFill>
            <a:srgbClr val="0D1728"/>
          </a:solidFill>
          <a:ln w="12700">
            <a:solidFill>
              <a:srgbClr val="23334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55210" y="5257800"/>
            <a:ext cx="2880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Fiyat &amp; Besin Değerleri Düzenlenebilir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8030261" y="1371600"/>
            <a:ext cx="3429000" cy="4663440"/>
          </a:xfrm>
          <a:prstGeom prst="roundRect">
            <a:avLst>
              <a:gd name="adj" fmla="val 5333"/>
            </a:avLst>
          </a:prstGeom>
          <a:solidFill>
            <a:srgbClr val="152238"/>
          </a:solidFill>
          <a:ln w="19050">
            <a:solidFill>
              <a:srgbClr val="283852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258861" y="1600200"/>
            <a:ext cx="2971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4D3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HAZIR &amp; DENGELI KARIŞIMLAR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8258861" y="1874520"/>
            <a:ext cx="2971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Tescilli Fabrika Yemleri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8258861" y="2468880"/>
            <a:ext cx="2971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Eriş Sığır Süt A (19 HP / 2800 ME)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8258861" y="3063240"/>
            <a:ext cx="2971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Eriş Crown Patlamış Mısır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8258861" y="3657600"/>
            <a:ext cx="2971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Özel Düve &amp; Geçiş Yemleri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8258861" y="4251960"/>
            <a:ext cx="2971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Premiksler &amp; Mineral Katkıları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8258861" y="5120640"/>
            <a:ext cx="2971800" cy="640080"/>
          </a:xfrm>
          <a:prstGeom prst="roundRect">
            <a:avLst>
              <a:gd name="adj" fmla="val 17143"/>
            </a:avLst>
          </a:prstGeom>
          <a:solidFill>
            <a:srgbClr val="0D1728"/>
          </a:solidFill>
          <a:ln w="12700">
            <a:solidFill>
              <a:srgbClr val="23334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304581" y="5257800"/>
            <a:ext cx="2880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Fiyat &amp; Besin Değerleri Düzenlenebilir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731520" y="6263640"/>
            <a:ext cx="10728655" cy="0"/>
          </a:xfrm>
          <a:prstGeom prst="line">
            <a:avLst/>
          </a:prstGeom>
          <a:noFill/>
          <a:ln w="12700">
            <a:solidFill>
              <a:srgbClr val="23334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31520" y="6327648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MilkIQ • Akıllı Süt Sığırcılığı Rasyon &amp; Karlılık Sistemi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6217920" y="6327648"/>
            <a:ext cx="524225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Developed by Erkan Erdem (erkanerdem.online)  |  4 / 10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3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107286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34D3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FINANSAL ANALIZ &amp; KARLILIK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731520" y="685800"/>
            <a:ext cx="1072865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Süt / Yem Paritesi &amp; Kar Marjı Yönetimi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31520" y="1371600"/>
            <a:ext cx="3429000" cy="2103120"/>
          </a:xfrm>
          <a:prstGeom prst="roundRect">
            <a:avLst>
              <a:gd name="adj" fmla="val 7826"/>
            </a:avLst>
          </a:prstGeom>
          <a:solidFill>
            <a:srgbClr val="152238"/>
          </a:solidFill>
          <a:ln w="25400">
            <a:solidFill>
              <a:srgbClr val="38BDF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554480"/>
            <a:ext cx="3063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 Litre Süt Yem Maliyeti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914400" y="1874520"/>
            <a:ext cx="3063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8BD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₺ 7.85 / L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914400" y="2514600"/>
            <a:ext cx="3063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Rasyondaki toplam günlük yem tutarının günlük süt verimine oranı.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380890" y="1371600"/>
            <a:ext cx="3429000" cy="2103120"/>
          </a:xfrm>
          <a:prstGeom prst="roundRect">
            <a:avLst>
              <a:gd name="adj" fmla="val 7826"/>
            </a:avLst>
          </a:prstGeom>
          <a:solidFill>
            <a:srgbClr val="152238"/>
          </a:solidFill>
          <a:ln w="25400">
            <a:solidFill>
              <a:srgbClr val="10B98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63770" y="1554480"/>
            <a:ext cx="3063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Günlük Hayvan Başı Net Kar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563770" y="1874520"/>
            <a:ext cx="3063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0B98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 ₺ 142.50 / Gün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4563770" y="2514600"/>
            <a:ext cx="3063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Süt geliri - (Yem gideri + Günlük amortisman ve genel giderler).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8030261" y="1371600"/>
            <a:ext cx="3429000" cy="2103120"/>
          </a:xfrm>
          <a:prstGeom prst="roundRect">
            <a:avLst>
              <a:gd name="adj" fmla="val 7826"/>
            </a:avLst>
          </a:prstGeom>
          <a:solidFill>
            <a:srgbClr val="152238"/>
          </a:solidFill>
          <a:ln w="25400">
            <a:solidFill>
              <a:srgbClr val="F59E0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13141" y="1554480"/>
            <a:ext cx="3063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Süt / Yem Paritesi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8213141" y="1874520"/>
            <a:ext cx="3063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59E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1.48 (İdeal Aralık)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8213141" y="2514600"/>
            <a:ext cx="3063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 kg süt satışı ile kaç kg yem alınabileceğini gösteren kritik katsayı.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731520" y="3657600"/>
            <a:ext cx="10728655" cy="2377440"/>
          </a:xfrm>
          <a:prstGeom prst="roundRect">
            <a:avLst>
              <a:gd name="adj" fmla="val 6923"/>
            </a:avLst>
          </a:prstGeom>
          <a:solidFill>
            <a:srgbClr val="152238"/>
          </a:solidFill>
          <a:ln w="19050">
            <a:solidFill>
              <a:srgbClr val="28385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05840" y="3840480"/>
            <a:ext cx="1018001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Finansal Karar Destek Mekanizması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005840" y="4251960"/>
            <a:ext cx="101800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Yem fiyatları arttığında aynı besin değerini koruyarak en ekonomik alternatif hammaddeleri önerir.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005840" y="4654296"/>
            <a:ext cx="101800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Süt fiyatı dalgalandığında işletmenin başa baş (break-even) üretim noktasını otomatik simüle eder.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005840" y="5056632"/>
            <a:ext cx="101800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Sürü genelinde aylık ve yıllık tahmini ciro &amp; net kar projeksiyonları sunar.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1005840" y="5458968"/>
            <a:ext cx="101800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Çiftliğin finansal sağlığını renk kodlu göstergeler ve net KPI kartlarıyla anlık özetler.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731520" y="6263640"/>
            <a:ext cx="10728655" cy="0"/>
          </a:xfrm>
          <a:prstGeom prst="line">
            <a:avLst/>
          </a:prstGeom>
          <a:noFill/>
          <a:ln w="12700">
            <a:solidFill>
              <a:srgbClr val="23334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31520" y="6327648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MilkIQ • Akıllı Süt Sığırcılığı Rasyon &amp; Karlılık Sistemi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6217920" y="6327648"/>
            <a:ext cx="524225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Developed by Erkan Erdem (erkanerdem.online)  |  5 / 10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3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107286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34D3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SÜRÜ &amp; ÜRETIM YÖNETIMI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731520" y="685800"/>
            <a:ext cx="1072865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Laktasyon Gruplandırma &amp; Besleme Tavsiyeleri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31520" y="1371600"/>
            <a:ext cx="3429000" cy="4663440"/>
          </a:xfrm>
          <a:prstGeom prst="roundRect">
            <a:avLst>
              <a:gd name="adj" fmla="val 5333"/>
            </a:avLst>
          </a:prstGeom>
          <a:solidFill>
            <a:srgbClr val="152238"/>
          </a:solidFill>
          <a:ln w="19050">
            <a:solidFill>
              <a:srgbClr val="28385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60120" y="1600200"/>
            <a:ext cx="2971800" cy="411480"/>
          </a:xfrm>
          <a:prstGeom prst="roundRect">
            <a:avLst>
              <a:gd name="adj" fmla="val 22222"/>
            </a:avLst>
          </a:prstGeom>
          <a:solidFill>
            <a:srgbClr val="0D1728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1664208"/>
            <a:ext cx="2880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F444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DIM: 1 - 100 Gün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960120" y="2148840"/>
            <a:ext cx="2971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 Erken Laktasyon (Pik Dönemi)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960120" y="2788920"/>
            <a:ext cx="29718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Negatif enerji dengesini önlemek için yüksek enerjili yoğun rasyon. Karaciğer ve rumen koruyucu premiksler ile asidoz kontrolü.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960120" y="5212080"/>
            <a:ext cx="2971800" cy="0"/>
          </a:xfrm>
          <a:prstGeom prst="line">
            <a:avLst/>
          </a:prstGeom>
          <a:noFill/>
          <a:ln w="12700">
            <a:solidFill>
              <a:srgbClr val="23334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60120" y="5394960"/>
            <a:ext cx="2971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4D3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Grup Bazlı Rasyon Ataması Aktif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380890" y="1371600"/>
            <a:ext cx="3429000" cy="4663440"/>
          </a:xfrm>
          <a:prstGeom prst="roundRect">
            <a:avLst>
              <a:gd name="adj" fmla="val 5333"/>
            </a:avLst>
          </a:prstGeom>
          <a:solidFill>
            <a:srgbClr val="152238"/>
          </a:solidFill>
          <a:ln w="19050">
            <a:solidFill>
              <a:srgbClr val="28385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609490" y="1600200"/>
            <a:ext cx="2971800" cy="411480"/>
          </a:xfrm>
          <a:prstGeom prst="roundRect">
            <a:avLst>
              <a:gd name="adj" fmla="val 22222"/>
            </a:avLst>
          </a:prstGeom>
          <a:solidFill>
            <a:srgbClr val="0D172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55210" y="1664208"/>
            <a:ext cx="2880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8BD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DIM: 101 - 200 Gün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4609490" y="2148840"/>
            <a:ext cx="2971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 Orta Laktasyon (Plato Dönemi)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4609490" y="2788920"/>
            <a:ext cx="29718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Dengeli kondisyon skoru muhafazası, süt proteini ve yağını maksimize eden optimum kaba/kesif yem dengesi.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609490" y="5212080"/>
            <a:ext cx="2971800" cy="0"/>
          </a:xfrm>
          <a:prstGeom prst="line">
            <a:avLst/>
          </a:prstGeom>
          <a:noFill/>
          <a:ln w="12700">
            <a:solidFill>
              <a:srgbClr val="23334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609490" y="5394960"/>
            <a:ext cx="2971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4D3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Grup Bazlı Rasyon Ataması Aktif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8030261" y="1371600"/>
            <a:ext cx="3429000" cy="4663440"/>
          </a:xfrm>
          <a:prstGeom prst="roundRect">
            <a:avLst>
              <a:gd name="adj" fmla="val 5333"/>
            </a:avLst>
          </a:prstGeom>
          <a:solidFill>
            <a:srgbClr val="152238"/>
          </a:solidFill>
          <a:ln w="19050">
            <a:solidFill>
              <a:srgbClr val="283852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58861" y="1600200"/>
            <a:ext cx="2971800" cy="411480"/>
          </a:xfrm>
          <a:prstGeom prst="roundRect">
            <a:avLst>
              <a:gd name="adj" fmla="val 22222"/>
            </a:avLst>
          </a:prstGeom>
          <a:solidFill>
            <a:srgbClr val="0D1728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304581" y="1664208"/>
            <a:ext cx="2880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0B98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DIM: 201+ Gün &amp; Doğuma 60 Gün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8258861" y="2148840"/>
            <a:ext cx="2971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3. Geç Laktasyon &amp; Kuru Dönem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8258861" y="2788920"/>
            <a:ext cx="29718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Aşırı yağlanmayı önleyici yüksek lifli rasyon. Doğum felcini (hipokalsemi) engelleyen anyonik besleme stratejileri.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8258861" y="5212080"/>
            <a:ext cx="2971800" cy="0"/>
          </a:xfrm>
          <a:prstGeom prst="line">
            <a:avLst/>
          </a:prstGeom>
          <a:noFill/>
          <a:ln w="12700">
            <a:solidFill>
              <a:srgbClr val="23334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258861" y="5394960"/>
            <a:ext cx="2971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4D3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Grup Bazlı Rasyon Ataması Aktif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731520" y="6263640"/>
            <a:ext cx="10728655" cy="0"/>
          </a:xfrm>
          <a:prstGeom prst="line">
            <a:avLst/>
          </a:prstGeom>
          <a:noFill/>
          <a:ln w="12700">
            <a:solidFill>
              <a:srgbClr val="23334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31520" y="6327648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MilkIQ • Akıllı Süt Sığırcılığı Rasyon &amp; Karlılık Sistemi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6217920" y="6327648"/>
            <a:ext cx="524225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Developed by Erkan Erdem (erkanerdem.online)  |  6 / 10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13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107286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34D3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BÜTÇE &amp; GIDER MODÜLÜ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731520" y="685800"/>
            <a:ext cx="1072865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Görünmeyen Maliyetleri Görünür Kılın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31520" y="1371600"/>
            <a:ext cx="5166360" cy="4663440"/>
          </a:xfrm>
          <a:prstGeom prst="roundRect">
            <a:avLst>
              <a:gd name="adj" fmla="val 3922"/>
            </a:avLst>
          </a:prstGeom>
          <a:solidFill>
            <a:srgbClr val="152238"/>
          </a:solidFill>
          <a:ln w="19050">
            <a:solidFill>
              <a:srgbClr val="28385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" y="1600200"/>
            <a:ext cx="4617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4D3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Kapsamlı Gider Kategorileri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005840" y="2103120"/>
            <a:ext cx="4617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📌 Veteriner &amp; Sağlık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1280160" y="2423160"/>
            <a:ext cx="4343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Aşılar, tohumlama, tırnak bakımı ve ilaç masrafları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1005840" y="3017520"/>
            <a:ext cx="4617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📌 İşçilik &amp; Personel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1280160" y="3337560"/>
            <a:ext cx="4343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Sağımcı, bakıcı maaşları ve SGK primleri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1005840" y="3931920"/>
            <a:ext cx="4617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📌 Enerji &amp; Yakıt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1280160" y="4251960"/>
            <a:ext cx="4343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Elektrik, jeneratör yakıtı ve traktör mazotu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1005840" y="4846320"/>
            <a:ext cx="4617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📌 Bakım &amp; Amortisman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1280160" y="5166360"/>
            <a:ext cx="4343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Sağımhane revizyonu, yem karma makinesi amortismanı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293815" y="1371600"/>
            <a:ext cx="5166360" cy="4663440"/>
          </a:xfrm>
          <a:prstGeom prst="roundRect">
            <a:avLst>
              <a:gd name="adj" fmla="val 3922"/>
            </a:avLst>
          </a:prstGeom>
          <a:solidFill>
            <a:srgbClr val="152238"/>
          </a:solidFill>
          <a:ln w="19050">
            <a:solidFill>
              <a:srgbClr val="38BDF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568135" y="1600200"/>
            <a:ext cx="4617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DD3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 Litre Sütün Gerçek Maliyeti Formülü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6568135" y="2103120"/>
            <a:ext cx="4617720" cy="914400"/>
          </a:xfrm>
          <a:prstGeom prst="roundRect">
            <a:avLst>
              <a:gd name="adj" fmla="val 12000"/>
            </a:avLst>
          </a:prstGeom>
          <a:solidFill>
            <a:srgbClr val="0D1728"/>
          </a:solidFill>
          <a:ln w="12700">
            <a:solidFill>
              <a:srgbClr val="23334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659575" y="2331720"/>
            <a:ext cx="4434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4D3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Gerçek Birim Maliyet = Yem Maliyeti + (Genel Giderler / Toplam Üretim)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6568135" y="3337560"/>
            <a:ext cx="46177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✔ Yalnızca yem değil, işletmenin tüm operasyonel gider yükü tek bir ekranda toplanır.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568135" y="4160520"/>
            <a:ext cx="46177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✔ Aylık gider raporları ve kategorik grafiklerle bütçe kaçakları anında engellenir.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568135" y="4983480"/>
            <a:ext cx="46177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✔ Süt satış fiyatı pazarlığında çiftlik sahibine gerçek maliyet tabanlı tam müzakere gücü verir.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731520" y="6263640"/>
            <a:ext cx="10728655" cy="0"/>
          </a:xfrm>
          <a:prstGeom prst="line">
            <a:avLst/>
          </a:prstGeom>
          <a:noFill/>
          <a:ln w="12700">
            <a:solidFill>
              <a:srgbClr val="23334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31520" y="6327648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MilkIQ • Akıllı Süt Sığırcılığı Rasyon &amp; Karlılık Sistemi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217920" y="6327648"/>
            <a:ext cx="524225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Developed by Erkan Erdem (erkanerdem.online)  |  7 / 10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3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107286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34D3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GÜVENLIK &amp; DENETIM ALTYAPISI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731520" y="685800"/>
            <a:ext cx="1072865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Kurumsal Audit Log &amp; Anlık Hata Bildirimi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31520" y="1371600"/>
            <a:ext cx="3429000" cy="4663440"/>
          </a:xfrm>
          <a:prstGeom prst="roundRect">
            <a:avLst>
              <a:gd name="adj" fmla="val 5333"/>
            </a:avLst>
          </a:prstGeom>
          <a:solidFill>
            <a:srgbClr val="152238"/>
          </a:solidFill>
          <a:ln w="19050">
            <a:solidFill>
              <a:srgbClr val="28385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" y="1600200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📋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005840" y="2148840"/>
            <a:ext cx="2880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Tam Kapsamlı Audit Log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1005840" y="2560320"/>
            <a:ext cx="2880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4D3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Kim, Ne Zaman, Hangi Değişikliği Yaptı?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005840" y="3063240"/>
            <a:ext cx="2880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Rasyon kayıt, güncelleme ve silme işlemleri anlık kaydedilir.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1005840" y="3931920"/>
            <a:ext cx="2880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Yem fiyat ve besin parametresi revizyonları kayıt altındadır.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1005840" y="4800600"/>
            <a:ext cx="2880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Gider kayıtları ve kullanıcı oturum hareketleri detaylı izlenir.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380890" y="1371600"/>
            <a:ext cx="3429000" cy="4663440"/>
          </a:xfrm>
          <a:prstGeom prst="roundRect">
            <a:avLst>
              <a:gd name="adj" fmla="val 5333"/>
            </a:avLst>
          </a:prstGeom>
          <a:solidFill>
            <a:srgbClr val="152238"/>
          </a:solidFill>
          <a:ln w="19050">
            <a:solidFill>
              <a:srgbClr val="28385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55210" y="1600200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📍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4655210" y="2148840"/>
            <a:ext cx="2880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IP, Konum &amp; Cihaz Tespiti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4655210" y="2560320"/>
            <a:ext cx="2880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4D3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Coğrafi ve Donanımsal İzlenebilirlik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655210" y="3063240"/>
            <a:ext cx="2880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Kullanıcının bağlandığı IP adresi ve ISP bilgisi yakalanır.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4655210" y="3931920"/>
            <a:ext cx="2880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Şehir/Ülke düzeyinde geo-location harita sorgulaması yapılır.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4655210" y="4800600"/>
            <a:ext cx="2880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Cihaz tipi (Mobil / Tablet / PC) ve tarayıcı tespiti kaydedilir.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8030261" y="1371600"/>
            <a:ext cx="3429000" cy="4663440"/>
          </a:xfrm>
          <a:prstGeom prst="roundRect">
            <a:avLst>
              <a:gd name="adj" fmla="val 5333"/>
            </a:avLst>
          </a:prstGeom>
          <a:solidFill>
            <a:srgbClr val="152238"/>
          </a:solidFill>
          <a:ln w="19050">
            <a:solidFill>
              <a:srgbClr val="28385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304581" y="1600200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✉️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8304581" y="2148840"/>
            <a:ext cx="2880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Gmail Hata Bildirim Servisi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8304581" y="2560320"/>
            <a:ext cx="2880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4D3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Kritik Sistem Alarmları 7/24 Takipte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8304581" y="3063240"/>
            <a:ext cx="2880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Olası API veya veritabanı hatalarında otomatik tetikleme çalışır.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8304581" y="3931920"/>
            <a:ext cx="2880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Geliştirici Erkan Erdem'e hata detayları anında mail olarak iletilir.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8304581" y="4800600"/>
            <a:ext cx="2880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Uygulama 7/24 geliştirici takibindedir; PIN korumalı SMTP paneli mevcuttur.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731520" y="6263640"/>
            <a:ext cx="10728655" cy="0"/>
          </a:xfrm>
          <a:prstGeom prst="line">
            <a:avLst/>
          </a:prstGeom>
          <a:noFill/>
          <a:ln w="12700">
            <a:solidFill>
              <a:srgbClr val="23334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31520" y="6327648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MilkIQ • Akıllı Süt Sığırcılığı Rasyon &amp; Karlılık Sistemi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6217920" y="6327648"/>
            <a:ext cx="524225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Developed by Erkan Erdem (erkanerdem.online)  |  8 / 10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3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107286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34D3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TEKNOLOJI &amp; DAĞITIM ALTYAPISI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731520" y="685800"/>
            <a:ext cx="1072865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Docker, Coolify &amp; Mobil PWA Mimarisi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31520" y="1371600"/>
            <a:ext cx="10728655" cy="1051560"/>
          </a:xfrm>
          <a:prstGeom prst="roundRect">
            <a:avLst>
              <a:gd name="adj" fmla="val 13043"/>
            </a:avLst>
          </a:prstGeom>
          <a:solidFill>
            <a:srgbClr val="152238"/>
          </a:solidFill>
          <a:ln w="19050">
            <a:solidFill>
              <a:srgbClr val="28385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" y="1536192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Next.js 15 &amp; React 19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1005840" y="1874520"/>
            <a:ext cx="1018001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Ultra hızlı SSR &amp; App Router mimarisi ile mobil cihazlarda ve masaüstünde akıcı kullanıcı deneyimi.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731520" y="2532888"/>
            <a:ext cx="10728655" cy="1051560"/>
          </a:xfrm>
          <a:prstGeom prst="roundRect">
            <a:avLst>
              <a:gd name="adj" fmla="val 13043"/>
            </a:avLst>
          </a:prstGeom>
          <a:solidFill>
            <a:srgbClr val="152238"/>
          </a:solidFill>
          <a:ln w="19050">
            <a:solidFill>
              <a:srgbClr val="28385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05840" y="269748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8BD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PostgreSQL &amp; Prisma ORM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1005840" y="3035808"/>
            <a:ext cx="1018001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İlişkisel, güvenilir ve yüksek performanslı veri tabanı altyapısı; tip güvenli veri sorgulama.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731520" y="3694176"/>
            <a:ext cx="10728655" cy="1051560"/>
          </a:xfrm>
          <a:prstGeom prst="roundRect">
            <a:avLst>
              <a:gd name="adj" fmla="val 13043"/>
            </a:avLst>
          </a:prstGeom>
          <a:solidFill>
            <a:srgbClr val="152238"/>
          </a:solidFill>
          <a:ln w="19050">
            <a:solidFill>
              <a:srgbClr val="28385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05840" y="3858768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0B98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Docker &amp; Docker Compose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1005840" y="4197096"/>
            <a:ext cx="1018001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Uygulama ve veritabanı bağımsız izole containerlarda sıfır konfigürasyon bağımlılığı ile çalışır.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731520" y="4855464"/>
            <a:ext cx="10728655" cy="1051560"/>
          </a:xfrm>
          <a:prstGeom prst="roundRect">
            <a:avLst>
              <a:gd name="adj" fmla="val 13043"/>
            </a:avLst>
          </a:prstGeom>
          <a:solidFill>
            <a:srgbClr val="152238"/>
          </a:solidFill>
          <a:ln w="19050">
            <a:solidFill>
              <a:srgbClr val="28385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05840" y="5020056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59E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Coolify Entegrasyonu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1005840" y="5358384"/>
            <a:ext cx="1018001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GitHub üzerinden otomatik CI/CD ve tek tıkla canlıya alma (milkiq.erkanerdem.online).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731520" y="6263640"/>
            <a:ext cx="10728655" cy="0"/>
          </a:xfrm>
          <a:prstGeom prst="line">
            <a:avLst/>
          </a:prstGeom>
          <a:noFill/>
          <a:ln w="12700">
            <a:solidFill>
              <a:srgbClr val="23334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31520" y="6327648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MilkIQ • Akıllı Süt Sığırcılığı Rasyon &amp; Karlılık Sistemi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6217920" y="6327648"/>
            <a:ext cx="524225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Developed by Erkan Erdem (erkanerdem.online)  |  9 / 10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13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107286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34D3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STRATEJIK KAZANIMLAR &amp; HEMEN BAŞLAYIN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731520" y="685800"/>
            <a:ext cx="1072865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MilkIQ ile Çiftliğinizin Geleceğini Yönetin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31520" y="1371600"/>
            <a:ext cx="3429000" cy="2103120"/>
          </a:xfrm>
          <a:prstGeom prst="roundRect">
            <a:avLst>
              <a:gd name="adj" fmla="val 7826"/>
            </a:avLst>
          </a:prstGeom>
          <a:solidFill>
            <a:srgbClr val="152238"/>
          </a:solidFill>
          <a:ln w="19050">
            <a:solidFill>
              <a:srgbClr val="10B98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554480"/>
            <a:ext cx="3063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34D3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%15 - 25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914400" y="2194560"/>
            <a:ext cx="3063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Yem Maliyeti Tasarrufu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914400" y="2560320"/>
            <a:ext cx="3063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Fazladan protein ve enerji israfının bilimsel olarak önlenmesi.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380890" y="1371600"/>
            <a:ext cx="3429000" cy="2103120"/>
          </a:xfrm>
          <a:prstGeom prst="roundRect">
            <a:avLst>
              <a:gd name="adj" fmla="val 7826"/>
            </a:avLst>
          </a:prstGeom>
          <a:solidFill>
            <a:srgbClr val="152238"/>
          </a:solidFill>
          <a:ln w="19050">
            <a:solidFill>
              <a:srgbClr val="10B98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63770" y="1554480"/>
            <a:ext cx="3063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34D3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+%12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4563770" y="2194560"/>
            <a:ext cx="3063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Süt Verim Artışı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563770" y="2560320"/>
            <a:ext cx="3063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Dengeli rumen pH ve optimum laktasyon piki yönetimi.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8030261" y="1371600"/>
            <a:ext cx="3429000" cy="2103120"/>
          </a:xfrm>
          <a:prstGeom prst="roundRect">
            <a:avLst>
              <a:gd name="adj" fmla="val 7826"/>
            </a:avLst>
          </a:prstGeom>
          <a:solidFill>
            <a:srgbClr val="152238"/>
          </a:solidFill>
          <a:ln w="19050">
            <a:solidFill>
              <a:srgbClr val="10B9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13141" y="1554480"/>
            <a:ext cx="3063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34D3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360°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8213141" y="2194560"/>
            <a:ext cx="3063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Uçtan Uca Finansal Kontrol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8213141" y="2560320"/>
            <a:ext cx="3063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 Litre sütün gerçek maliyeti ve günlük hayvan başı net kar.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731520" y="3657600"/>
            <a:ext cx="10728655" cy="2377440"/>
          </a:xfrm>
          <a:prstGeom prst="roundRect">
            <a:avLst>
              <a:gd name="adj" fmla="val 7692"/>
            </a:avLst>
          </a:prstGeom>
          <a:solidFill>
            <a:srgbClr val="152238"/>
          </a:solidFill>
          <a:ln w="25400">
            <a:solidFill>
              <a:srgbClr val="38BDF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97280" y="3931920"/>
            <a:ext cx="5943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Canlı Uygulama &amp; İletişim</a:t>
            </a:r>
            <a:endParaRPr lang="en-US" sz="1650" dirty="0"/>
          </a:p>
        </p:txBody>
      </p:sp>
      <p:sp>
        <p:nvSpPr>
          <p:cNvPr id="18" name="Text 16"/>
          <p:cNvSpPr/>
          <p:nvPr/>
        </p:nvSpPr>
        <p:spPr>
          <a:xfrm>
            <a:off x="1097280" y="4434840"/>
            <a:ext cx="59436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Canlı Sistem: https://milkiq.erkanerdem.online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Geliştirici Portfolyosu: https://erkanerdem.online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7/24 Kesintisiz Geliştirici Takibi &amp; Teknik Destek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498080" y="4251960"/>
            <a:ext cx="3474720" cy="1188720"/>
          </a:xfrm>
          <a:prstGeom prst="roundRect">
            <a:avLst>
              <a:gd name="adj" fmla="val 13846"/>
            </a:avLst>
          </a:prstGeom>
          <a:solidFill>
            <a:srgbClr val="10B981"/>
          </a:solidFill>
          <a:ln/>
        </p:spPr>
      </p:sp>
      <p:sp>
        <p:nvSpPr>
          <p:cNvPr id="20" name="Text 18"/>
          <p:cNvSpPr/>
          <p:nvPr/>
        </p:nvSpPr>
        <p:spPr>
          <a:xfrm>
            <a:off x="7589520" y="4434840"/>
            <a:ext cx="32918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MilkIQ İle Başlayın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Akıllı Çiftlik Yönetimi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731520" y="6263640"/>
            <a:ext cx="10728655" cy="0"/>
          </a:xfrm>
          <a:prstGeom prst="line">
            <a:avLst/>
          </a:prstGeom>
          <a:noFill/>
          <a:ln w="12700">
            <a:solidFill>
              <a:srgbClr val="23334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31520" y="6327648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MilkIQ • Akıllı Süt Sığırcılığı Rasyon &amp; Karlılık Sistemi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217920" y="6327648"/>
            <a:ext cx="524225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Developed by Erkan Erdem (erkanerdem.online)  |  10 / 10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MilkIQ - erkanerdem.online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MilkIQ Ürün ve Özellik Tanıtım Sunumu</dc:title>
  <dc:subject>MilkIQ Akıllı Süt Sığırcılığı Rasyon &amp; Karlılık Yönetim Sistemi</dc:subject>
  <dc:creator>Erkan Erdem</dc:creator>
  <cp:lastModifiedBy>Erkan Erdem</cp:lastModifiedBy>
  <cp:revision>1</cp:revision>
  <dcterms:created xsi:type="dcterms:W3CDTF">2026-10-07T09:22:16Z</dcterms:created>
  <dcterms:modified xsi:type="dcterms:W3CDTF">2026-10-07T09:22:16Z</dcterms:modified>
</cp:coreProperties>
</file>